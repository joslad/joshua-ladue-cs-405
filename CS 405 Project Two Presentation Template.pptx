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1"/>
  </p:notesMasterIdLst>
  <p:sldIdLst>
    <p:sldId id="256" r:id="rId5"/>
    <p:sldId id="257" r:id="rId6"/>
    <p:sldId id="258" r:id="rId7"/>
    <p:sldId id="259" r:id="rId8"/>
    <p:sldId id="260" r:id="rId9"/>
    <p:sldId id="261" r:id="rId10"/>
    <p:sldId id="262" r:id="rId11"/>
    <p:sldId id="263" r:id="rId12"/>
    <p:sldId id="270" r:id="rId13"/>
    <p:sldId id="271" r:id="rId14"/>
    <p:sldId id="264" r:id="rId15"/>
    <p:sldId id="265" r:id="rId16"/>
    <p:sldId id="266" r:id="rId17"/>
    <p:sldId id="267" r:id="rId18"/>
    <p:sldId id="268" r:id="rId19"/>
    <p:sldId id="269" r:id="rId20"/>
  </p:sldIdLst>
  <p:sldSz cx="12192000" cy="6858000"/>
  <p:notesSz cx="6858000" cy="9144000"/>
  <p:embeddedFontLst>
    <p:embeddedFont>
      <p:font typeface="Century Gothic" panose="020B0502020202020204" pitchFamily="34" charset="0"/>
      <p:regular r:id="rId22"/>
      <p:bold r:id="rId23"/>
      <p:italic r:id="rId24"/>
      <p:boldItalic r:id="rId25"/>
    </p:embeddedFont>
  </p:embeddedFontLst>
  <p:custDataLst>
    <p:tags r:id="rId2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Hello, my name is Joshua Ladue. Today I have prepared for you my security policy that is meant to go hand in hand with the practices of defense in depth, and not leaving security for the end of development.</a:t>
            </a: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My security policy mostly revolves around the </a:t>
            </a:r>
            <a:r>
              <a:rPr lang="en-US" sz="1100" b="0" i="0" u="none" strike="noStrike" cap="none" dirty="0" err="1">
                <a:solidFill>
                  <a:srgbClr val="000000"/>
                </a:solidFill>
                <a:effectLst/>
                <a:latin typeface="Arial"/>
                <a:ea typeface="Arial"/>
                <a:cs typeface="Arial"/>
                <a:sym typeface="Arial"/>
              </a:rPr>
              <a:t>SecDevOps</a:t>
            </a:r>
            <a:r>
              <a:rPr lang="en-US" sz="1100" b="0" i="0" u="none" strike="noStrike" cap="none" dirty="0">
                <a:solidFill>
                  <a:srgbClr val="000000"/>
                </a:solidFill>
                <a:effectLst/>
                <a:latin typeface="Arial"/>
                <a:ea typeface="Arial"/>
                <a:cs typeface="Arial"/>
                <a:sym typeface="Arial"/>
              </a:rPr>
              <a:t> pipeline, and the continuous defense in depth techniques used in it cyclically. This policy helps to provide a more specific and in depth view of defense in depth strategies and best practices, which in turn will strengthen the security of the program being developed throughout its lifetime while being developed and released</a:t>
            </a: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1.)DCL-12-C(Implement abstract data types using opaque types.)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cs typeface="Arial"/>
                <a:sym typeface="Arial"/>
              </a:rPr>
              <a:t>2.)</a:t>
            </a:r>
            <a:r>
              <a:rPr lang="en-US" sz="1100" b="0" i="0" u="none" strike="noStrike" cap="none" dirty="0">
                <a:solidFill>
                  <a:srgbClr val="000000"/>
                </a:solidFill>
                <a:effectLst/>
                <a:latin typeface="Arial"/>
                <a:ea typeface="Arial"/>
                <a:cs typeface="Arial"/>
                <a:sym typeface="Arial"/>
              </a:rPr>
              <a:t> EXP-53-CPP(Do Not Read Uninitialized Memory)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t>3.)</a:t>
            </a:r>
            <a:r>
              <a:rPr lang="en-US" sz="1100" b="0" i="0" u="none" strike="noStrike" cap="none" dirty="0">
                <a:solidFill>
                  <a:srgbClr val="000000"/>
                </a:solidFill>
                <a:effectLst/>
                <a:latin typeface="Arial"/>
                <a:ea typeface="Arial"/>
                <a:cs typeface="Arial"/>
                <a:sym typeface="Arial"/>
              </a:rPr>
              <a:t> STR-52-CPP(Use valid references, pointers, and iterators to reference elements of a </a:t>
            </a:r>
            <a:r>
              <a:rPr lang="en-US" sz="1100" b="0" i="0" u="none" strike="noStrike" cap="none" dirty="0" err="1">
                <a:solidFill>
                  <a:srgbClr val="000000"/>
                </a:solidFill>
                <a:effectLst/>
                <a:latin typeface="Arial"/>
                <a:ea typeface="Arial"/>
                <a:cs typeface="Arial"/>
                <a:sym typeface="Arial"/>
              </a:rPr>
              <a:t>basic_string</a:t>
            </a:r>
            <a:r>
              <a:rPr lang="en-US" sz="1100" b="0" i="0" u="none" strike="noStrike" cap="none" dirty="0">
                <a:solidFill>
                  <a:srgbClr val="000000"/>
                </a:solidFill>
                <a:effectLst/>
                <a:latin typeface="Arial"/>
                <a:ea typeface="Arial"/>
                <a:cs typeface="Arial"/>
                <a:sym typeface="Arial"/>
              </a:rPr>
              <a:t>)</a:t>
            </a:r>
            <a:endParaRPr lang="en-US" sz="1100" b="0" i="0" u="none" strike="noStrike" cap="none"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t>4.)</a:t>
            </a:r>
            <a:r>
              <a:rPr lang="en-US" sz="1100" b="0" i="0" u="none" strike="noStrike" cap="none" dirty="0">
                <a:solidFill>
                  <a:srgbClr val="000000"/>
                </a:solidFill>
                <a:effectLst/>
                <a:latin typeface="Arial"/>
                <a:ea typeface="Arial"/>
                <a:cs typeface="Arial"/>
                <a:sym typeface="Arial"/>
              </a:rPr>
              <a:t> ERR-56-LLL-CPP(Guarantee Exception Safety)</a:t>
            </a:r>
            <a:endParaRPr lang="en-US" sz="1100" b="0" i="0" u="none" strike="noStrike" cap="none" dirty="0"/>
          </a:p>
          <a:p>
            <a:pPr marL="0" lvl="0" indent="0" algn="l" rtl="0">
              <a:lnSpc>
                <a:spcPct val="100000"/>
              </a:lnSpc>
              <a:spcBef>
                <a:spcPts val="0"/>
              </a:spcBef>
              <a:spcAft>
                <a:spcPts val="0"/>
              </a:spcAft>
              <a:buSzPts val="1100"/>
              <a:buNone/>
            </a:pPr>
            <a:r>
              <a:rPr lang="en-US" b="0" i="0" u="none" dirty="0"/>
              <a:t>5.)</a:t>
            </a:r>
            <a:r>
              <a:rPr lang="en-US" sz="1100" b="0" i="0" u="none" strike="noStrike" cap="none" dirty="0">
                <a:solidFill>
                  <a:srgbClr val="000000"/>
                </a:solidFill>
                <a:effectLst/>
                <a:latin typeface="Arial"/>
                <a:ea typeface="Arial"/>
                <a:cs typeface="Arial"/>
                <a:sym typeface="Arial"/>
              </a:rPr>
              <a:t> MEM-50-CPP(Do not access freed memory)</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6.)MSC-1-C(Incorporate diagnostic tests using assertions)</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7.) ERR-51-CPP(Handle all exceptions)</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8.) FIO-51-CPP(Close files when they are no longer needed)</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9.) MSC-50-CPP(Do not use std::rand() for generating pseudorandom numbers)</a:t>
            </a: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10.) DCL-60-CPP(Obey the one definition rule)</a:t>
            </a: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spcBef>
                <a:spcPts val="0"/>
              </a:spcBef>
              <a:buSzPts val="2200"/>
            </a:pPr>
            <a:r>
              <a:rPr lang="en-US" dirty="0"/>
              <a:t>1.) Validate</a:t>
            </a:r>
            <a:r>
              <a:rPr lang="en-US" b="1" dirty="0"/>
              <a:t> </a:t>
            </a:r>
            <a:r>
              <a:rPr lang="en-US" dirty="0"/>
              <a:t>Input Data:</a:t>
            </a:r>
          </a:p>
          <a:p>
            <a:pPr marL="228600" lvl="0" indent="-228600">
              <a:spcBef>
                <a:spcPts val="0"/>
              </a:spcBef>
              <a:buSzPts val="2200"/>
            </a:pPr>
            <a:r>
              <a:rPr lang="en-US" dirty="0"/>
              <a:t>2.) Heed Compiler Warnings: 2,</a:t>
            </a:r>
          </a:p>
          <a:p>
            <a:pPr marL="228600" lvl="0" indent="-228600">
              <a:spcBef>
                <a:spcPts val="0"/>
              </a:spcBef>
              <a:buSzPts val="2200"/>
            </a:pPr>
            <a:r>
              <a:rPr lang="en-US" dirty="0"/>
              <a:t>3.) Architect and Design for Security Policies:1, 3, 4, 7, 10</a:t>
            </a:r>
          </a:p>
          <a:p>
            <a:pPr marL="228600" lvl="0" indent="-228600">
              <a:spcBef>
                <a:spcPts val="0"/>
              </a:spcBef>
              <a:buSzPts val="2200"/>
            </a:pPr>
            <a:r>
              <a:rPr lang="en-US" dirty="0"/>
              <a:t>4.) Keep It Simple: 8, </a:t>
            </a:r>
          </a:p>
          <a:p>
            <a:pPr marL="228600" lvl="0" indent="-228600">
              <a:spcBef>
                <a:spcPts val="0"/>
              </a:spcBef>
              <a:buSzPts val="2200"/>
            </a:pPr>
            <a:r>
              <a:rPr lang="en-US" dirty="0"/>
              <a:t>5.) Default Deny:</a:t>
            </a:r>
          </a:p>
          <a:p>
            <a:pPr marL="228600" lvl="0" indent="-228600">
              <a:spcBef>
                <a:spcPts val="0"/>
              </a:spcBef>
              <a:buSzPts val="2200"/>
            </a:pPr>
            <a:r>
              <a:rPr lang="en-US" dirty="0"/>
              <a:t>6.) Adhere to the Principle of Least Privilege: 1,</a:t>
            </a:r>
          </a:p>
          <a:p>
            <a:pPr marL="228600" lvl="0" indent="-228600">
              <a:spcBef>
                <a:spcPts val="0"/>
              </a:spcBef>
              <a:buSzPts val="2200"/>
            </a:pPr>
            <a:r>
              <a:rPr lang="en-US" dirty="0"/>
              <a:t>7.) Sanitize Data Sent to Other Systems:</a:t>
            </a:r>
          </a:p>
          <a:p>
            <a:pPr marL="228600" lvl="0" indent="-228600">
              <a:spcBef>
                <a:spcPts val="0"/>
              </a:spcBef>
              <a:buSzPts val="2200"/>
            </a:pPr>
            <a:r>
              <a:rPr lang="en-US" dirty="0"/>
              <a:t>8.) Practice Defense in Depth: 6, </a:t>
            </a:r>
          </a:p>
          <a:p>
            <a:pPr marL="228600" lvl="0" indent="-228600">
              <a:spcBef>
                <a:spcPts val="0"/>
              </a:spcBef>
              <a:buSzPts val="2200"/>
            </a:pPr>
            <a:r>
              <a:rPr lang="en-US" dirty="0"/>
              <a:t>9.) Use Effective Quality Assurance Techniques: 2,</a:t>
            </a:r>
          </a:p>
          <a:p>
            <a:pPr marL="228600" lvl="0" indent="-228600">
              <a:spcBef>
                <a:spcPts val="0"/>
              </a:spcBef>
              <a:buSzPts val="2200"/>
            </a:pPr>
            <a:r>
              <a:rPr lang="en-US" dirty="0"/>
              <a:t>10.) Adopt a Secure Coding Standard: 3, 5, 7, 8, 9</a:t>
            </a:r>
          </a:p>
          <a:p>
            <a:pPr marL="0" lvl="0" indent="0" algn="l" rtl="0">
              <a:lnSpc>
                <a:spcPct val="100000"/>
              </a:lnSpc>
              <a:spcBef>
                <a:spcPts val="0"/>
              </a:spcBef>
              <a:spcAft>
                <a:spcPts val="0"/>
              </a:spcAft>
              <a:buSzPts val="1100"/>
              <a:buNone/>
            </a:pP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 method that I have chosen to organize these coding standards by priority is fairly simple. At first, I simply organized them from the highest to lowest priority number. This was working until there were multiple standards with the same priority number 4, 5 and 6 all have a priority level of 6, so I decided to organize them additionally by their severity or cost. All the priority 9 ones had the exact same details on the grid, so I simply listed them as the most important in my mind. From most to least important is: Do not access freed memory, ensure that all exceptions are handled, and then make sure to include diagnostics tests. And lastly, the final standard has a priority level of 12.</a:t>
            </a: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Encryption at rest is when you encrypt data that is already stored. Usually on some sort of physical storage device like a disk, but it can be on a cloud service as well. The data in the disk is encrypted with a key and turns all the plain text information into ciphertext data.</a:t>
            </a:r>
          </a:p>
          <a:p>
            <a:pPr marL="0" lvl="0" indent="0" algn="l" rtl="0">
              <a:lnSpc>
                <a:spcPct val="100000"/>
              </a:lnSpc>
              <a:spcBef>
                <a:spcPts val="0"/>
              </a:spcBef>
              <a:spcAft>
                <a:spcPts val="0"/>
              </a:spcAft>
              <a:buSzPts val="1100"/>
              <a:buNone/>
            </a:pPr>
            <a:endParaRPr lang="en-US" sz="1100" b="0" i="0" u="none" strike="noStrike" cap="none" dirty="0">
              <a:solidFill>
                <a:srgbClr val="000000"/>
              </a:solidFill>
              <a:effectLst/>
              <a:latin typeface="Arial"/>
              <a:cs typeface="Arial"/>
              <a:sym typeface="Arial"/>
            </a:endParaRP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Encryption in flight, also known as encryption in transit, is when data is being transferred from one location to another, whether it be on a private network or through the internet. The data is encrypted in transit between one location to help prevent anyone from hijacking this data in transit and being able to easily tell what exactly it is.</a:t>
            </a:r>
          </a:p>
          <a:p>
            <a:pPr marL="0" lvl="0" indent="0" algn="l" rtl="0">
              <a:lnSpc>
                <a:spcPct val="100000"/>
              </a:lnSpc>
              <a:spcBef>
                <a:spcPts val="0"/>
              </a:spcBef>
              <a:spcAft>
                <a:spcPts val="0"/>
              </a:spcAft>
              <a:buSzPts val="1100"/>
              <a:buNone/>
            </a:pPr>
            <a:endParaRPr lang="en-US" sz="1100" b="0" i="0" u="none" strike="noStrike" cap="none" dirty="0">
              <a:solidFill>
                <a:srgbClr val="000000"/>
              </a:solidFill>
              <a:effectLst/>
              <a:latin typeface="Arial"/>
              <a:cs typeface="Arial"/>
              <a:sym typeface="Arial"/>
            </a:endParaRP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Encryption in use is when data that is currently being used or created within a program is being encrypted while it is currently being used. This is a very important type of data to encrypt, but it can be challenging as it is difficult to encrypt and use data while it is currently in use or processing, so this method needs to be robust and efficient in its implementation.</a:t>
            </a:r>
            <a:endParaRPr lang="en-US" dirty="0"/>
          </a:p>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Authentication is basically there to verify the identity of the user logging in to a program or using it. Things like usernames, passwords, biometrics, and two factor verification all help with this part of the triple A framework. This is important because it helps security to know exactly who someone is, and what they are allowed and not allowed to do inside of the application. These privileges also lead over into the next A, which is Authorization.</a:t>
            </a:r>
          </a:p>
          <a:p>
            <a:pPr marL="0" lvl="0" indent="0" algn="l" rtl="0">
              <a:lnSpc>
                <a:spcPct val="100000"/>
              </a:lnSpc>
              <a:spcBef>
                <a:spcPts val="0"/>
              </a:spcBef>
              <a:spcAft>
                <a:spcPts val="0"/>
              </a:spcAft>
              <a:buSzPts val="1100"/>
              <a:buNone/>
            </a:pPr>
            <a:endParaRPr lang="en-US" sz="1100" b="0" i="0" u="none" strike="noStrike" cap="none" dirty="0">
              <a:solidFill>
                <a:srgbClr val="000000"/>
              </a:solidFill>
              <a:effectLst/>
              <a:latin typeface="Arial"/>
              <a:cs typeface="Arial"/>
              <a:sym typeface="Arial"/>
            </a:endParaRP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After the program recognizes the exact user, the next step is to recognize what privileges that person would have inside of the application. These privileges can include access to certain parts of the program, or certain privileges like reading only, or being able to write as well. The principle of least privilege should always be kept in mind with Authorization. Limiting access will also limit the access of bad actors attempting to alter your code.</a:t>
            </a:r>
          </a:p>
          <a:p>
            <a:pPr marL="0" lvl="0" indent="0" algn="l" rtl="0">
              <a:lnSpc>
                <a:spcPct val="100000"/>
              </a:lnSpc>
              <a:spcBef>
                <a:spcPts val="0"/>
              </a:spcBef>
              <a:spcAft>
                <a:spcPts val="0"/>
              </a:spcAft>
              <a:buSzPts val="1100"/>
              <a:buNone/>
            </a:pPr>
            <a:endParaRPr lang="en-US" sz="1100" b="0" i="0" u="none" strike="noStrike" cap="none" dirty="0">
              <a:solidFill>
                <a:srgbClr val="000000"/>
              </a:solidFill>
              <a:effectLst/>
              <a:latin typeface="Arial"/>
              <a:cs typeface="Arial"/>
              <a:sym typeface="Arial"/>
            </a:endParaRP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Accounting is when the program tracks what the user is doing inside of the program. This can include things like session length, what has been accessed, and resource usage from that user. The reason that activities are tracked is it helps keep all users accountable to their own actions. This also helps the program owners  keep track of what exactly is happening or what has happened if there is ever a security breach. This information can help to prevent issues, or fix any that come up.</a:t>
            </a: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00"/>
              </a:spcBef>
              <a:spcAft>
                <a:spcPts val="0"/>
              </a:spcAft>
              <a:buSzPts val="1800"/>
              <a:buNone/>
            </a:pPr>
            <a:r>
              <a:rPr lang="en-US" dirty="0"/>
              <a:t>The issue that I have chosen is that of making sure to close all files after they are no longer needed and not in use.</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I have prepared different unit tests to check if the file did, or did not close</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diagram represents a continuous loop of security being a major part of development instead of an afterthought. This diagram is broken up into pieces. Certain pieces of this loop can be changed to help enforce automated code checks and improve security. Starting with the first section that is “Assess and plan”, we can help enforce automation by making sure that the proper security testing tools are already available for developers including any external and add-ons to Visual Studio or a similar IDE. That way, these tools can be continuously used throughout the process. At “Verify and test”. We can set up checks for </a:t>
            </a:r>
            <a:r>
              <a:rPr lang="en-US" sz="1100" b="0" i="0" u="none" strike="noStrike" cap="none" dirty="0" err="1">
                <a:solidFill>
                  <a:srgbClr val="000000"/>
                </a:solidFill>
                <a:effectLst/>
                <a:latin typeface="Arial"/>
                <a:ea typeface="Arial"/>
                <a:cs typeface="Arial"/>
                <a:sym typeface="Arial"/>
              </a:rPr>
              <a:t>CPPCheck</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Astrèe</a:t>
            </a:r>
            <a:r>
              <a:rPr lang="en-US" sz="1100" b="0" i="0" u="none" strike="noStrike" cap="none" dirty="0">
                <a:solidFill>
                  <a:srgbClr val="000000"/>
                </a:solidFill>
                <a:effectLst/>
                <a:latin typeface="Arial"/>
                <a:ea typeface="Arial"/>
                <a:cs typeface="Arial"/>
                <a:sym typeface="Arial"/>
              </a:rPr>
              <a:t>, HELIX QAC, and others to make sure that all of the security policies are met before pushing any updates, or shipping and projects. If any of the rules are violated, the code should not be pushed out. During the “Monitor and detect” phase, it is important to keep up with the security policies and to keep gathering information to check for any violations. Checking logs and alerts can in turn alert developers to problem areas and they can use the appropriate tools for the job. Going back to the first section, the planning stage is one of the most important, because if you do not set up your project to be secure and have security be a core part of development, it is harder to maintain it safely.</a:t>
            </a:r>
          </a:p>
          <a:p>
            <a:pPr marL="0" lvl="0" indent="0" algn="l" rtl="0">
              <a:lnSpc>
                <a:spcPct val="100000"/>
              </a:lnSpc>
              <a:spcBef>
                <a:spcPts val="0"/>
              </a:spcBef>
              <a:spcAft>
                <a:spcPts val="0"/>
              </a:spcAft>
              <a:buSzPts val="1100"/>
              <a:buNone/>
            </a:pP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diagram represents a continuous loop of security being a major part of development instead of an afterthought. This diagram is broken up into pieces. Certain pieces of this loop can be changed to help enforce automated code checks and improve security. Starting with the first section that is “Assess and plan”, we can help enforce automation by making sure that the proper security testing tools are already available for developers including any external and add-ons to Visual Studio or a similar IDE. That way, these tools can be continuously used throughout the process. At “Verify and test”. We can set up checks for </a:t>
            </a:r>
            <a:r>
              <a:rPr lang="en-US" sz="1100" b="0" i="0" u="none" strike="noStrike" cap="none" dirty="0" err="1">
                <a:solidFill>
                  <a:srgbClr val="000000"/>
                </a:solidFill>
                <a:effectLst/>
                <a:latin typeface="Arial"/>
                <a:ea typeface="Arial"/>
                <a:cs typeface="Arial"/>
                <a:sym typeface="Arial"/>
              </a:rPr>
              <a:t>CPPCheck</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Astrèe</a:t>
            </a:r>
            <a:r>
              <a:rPr lang="en-US" sz="1100" b="0" i="0" u="none" strike="noStrike" cap="none" dirty="0">
                <a:solidFill>
                  <a:srgbClr val="000000"/>
                </a:solidFill>
                <a:effectLst/>
                <a:latin typeface="Arial"/>
                <a:ea typeface="Arial"/>
                <a:cs typeface="Arial"/>
                <a:sym typeface="Arial"/>
              </a:rPr>
              <a:t>, HELIX QAC, and others to make sure that all of the security policies are met before pushing any updates, or shipping and projects. If any of the rules are violated, the code should not be pushed out. During the “Monitor and detect” phase, it is important to keep up with the security policies and to keep gathering information to check for any violations. Checking logs and alerts can in turn alert developers to problem areas and they can use the appropriate tools for the job. Going back to the first section, the planning stage is one of the most important, because if you do not set up your project to be secure and have security be a core part of development, it is harder to maintain it safely.</a:t>
            </a:r>
          </a:p>
          <a:p>
            <a:pPr marL="0" lvl="0" indent="0" algn="l" rtl="0">
              <a:lnSpc>
                <a:spcPct val="100000"/>
              </a:lnSpc>
              <a:spcBef>
                <a:spcPts val="0"/>
              </a:spcBef>
              <a:spcAft>
                <a:spcPts val="0"/>
              </a:spcAft>
              <a:buSzPts val="1100"/>
              <a:buNone/>
            </a:pP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There are risks and benefits to either acting now in attempting to repair the issue of closing files after they are done being used. Two main factors that can influence the decision to fix any issue are both the money involved and the effort involved in finding or fixing the error. The cost to remediate this issue is not high, so that should not be an issue. The problem here is with the effort involved in fixing it and finding it. Finding out if all files are being closed after opening them is something that is hard to detect automatically and hard to fix automatically through automation. This means that a manual check and fix will most likely be required which is a lot more effort than automation. However this is a high priority standard to adhere to, so my recommendation would be to fix it immediately in the event that the issue is found out through testing for memory leaks or security breaches.</a:t>
            </a:r>
          </a:p>
          <a:p>
            <a:pPr marL="0" lvl="0" indent="0" algn="l" rtl="0">
              <a:lnSpc>
                <a:spcPct val="100000"/>
              </a:lnSpc>
              <a:spcBef>
                <a:spcPts val="0"/>
              </a:spcBef>
              <a:spcAft>
                <a:spcPts val="0"/>
              </a:spcAft>
              <a:buSzPts val="1100"/>
              <a:buNone/>
            </a:pP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A main area that can be improved upon while looking for gaps in my policy is actually the first principle of verifying input data, and additional the principle of default denying. These both deal with verifying the identity and input of users. According to the Flashpoint Intel team, this could have been one of the first steps that the hackers took in the 2014 Sony breach in order to steal data. What they did was send out phishing campaigns to try and steal employee details in order to access their systems.(Flashpoint, 2014) Stronger systems in place to avoid this could have prevented the attack. </a:t>
            </a:r>
          </a:p>
          <a:p>
            <a:pPr marL="0" lvl="0" indent="0" algn="l" rtl="0">
              <a:lnSpc>
                <a:spcPct val="100000"/>
              </a:lnSpc>
              <a:spcBef>
                <a:spcPts val="0"/>
              </a:spcBef>
              <a:spcAft>
                <a:spcPts val="0"/>
              </a:spcAft>
              <a:buSzPts val="1100"/>
              <a:buNone/>
            </a:pP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My first proposed inclusion is standard: FIO30-C. Exclude user input from format strings. This standard is in place to make sure that users cannot directly change any values by modifying the string format it is in, which is an extremely important thing to keep in mind while dealing with bad actors. The second proposed standard I have is ERR04-C. Choose an appropriate termination strategy. This is a more complicated standard than the previous one, but in summary it means that the program must terminate expectedly when it does terminate itself. This prevents any attackers from gaining access to the system because they were able to exploit any type of error while terminating or attempting to terminate after an error or some other similar situation.</a:t>
            </a: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Here are my references for this presentation. </a:t>
            </a:r>
            <a:r>
              <a:rPr lang="en-US" sz="1100" b="0" i="0" u="none" strike="noStrike" cap="none">
                <a:solidFill>
                  <a:srgbClr val="000000"/>
                </a:solidFill>
                <a:effectLst/>
                <a:latin typeface="Arial"/>
                <a:ea typeface="Arial"/>
                <a:cs typeface="Arial"/>
                <a:sym typeface="Arial"/>
              </a:rPr>
              <a:t>Thank you for listening to my presentation and I hope you have a nice evening.</a:t>
            </a: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Joshua Ladue</a:t>
            </a:r>
          </a:p>
          <a:p>
            <a:pPr marL="0" lvl="0" indent="0" algn="l" rtl="0">
              <a:lnSpc>
                <a:spcPct val="70000"/>
              </a:lnSpc>
              <a:spcBef>
                <a:spcPts val="1000"/>
              </a:spcBef>
              <a:spcAft>
                <a:spcPts val="0"/>
              </a:spcAft>
              <a:buClr>
                <a:schemeClr val="lt1"/>
              </a:buClr>
              <a:buSzPts val="1850"/>
              <a:buNone/>
            </a:pPr>
            <a:endParaRPr lang="en-US" sz="1850" i="1" dirty="0"/>
          </a:p>
          <a:p>
            <a:pPr marL="0" lvl="0" indent="0" algn="l" rtl="0">
              <a:lnSpc>
                <a:spcPct val="70000"/>
              </a:lnSpc>
              <a:spcBef>
                <a:spcPts val="1000"/>
              </a:spcBef>
              <a:spcAft>
                <a:spcPts val="0"/>
              </a:spcAft>
              <a:buSzPts val="1850"/>
              <a:buNone/>
            </a:pPr>
            <a:r>
              <a:rPr lang="en-US" dirty="0"/>
              <a:t>[Complete this template by replacing the bracketed text with the relevant information.]</a:t>
            </a:r>
            <a:endParaRPr lang="en-US"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endParaRPr sz="1600"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a:bodyPr>
          <a:lstStyle/>
          <a:p>
            <a:pPr marL="228600" lvl="0" indent="0" algn="l" rtl="0">
              <a:lnSpc>
                <a:spcPct val="107916"/>
              </a:lnSpc>
              <a:spcBef>
                <a:spcPts val="0"/>
              </a:spcBef>
              <a:spcAft>
                <a:spcPts val="0"/>
              </a:spcAft>
              <a:buSzPts val="1800"/>
              <a:buNone/>
            </a:pPr>
            <a:r>
              <a:rPr lang="en-US" sz="2000">
                <a:solidFill>
                  <a:srgbClr val="FFFFFF"/>
                </a:solidFill>
              </a:rPr>
              <a:t>[Populate the Threats Matrix table and provide explanations to summarize of all of your security risks.]</a:t>
            </a:r>
            <a:endParaRPr sz="2000"/>
          </a:p>
          <a:p>
            <a:pPr marL="228600" lvl="0" indent="-88900" algn="l" rtl="0">
              <a:lnSpc>
                <a:spcPct val="90000"/>
              </a:lnSpc>
              <a:spcBef>
                <a:spcPts val="1000"/>
              </a:spcBef>
              <a:spcAft>
                <a:spcPts val="0"/>
              </a:spcAft>
              <a:buClr>
                <a:schemeClr val="lt1"/>
              </a:buClr>
              <a:buSzPts val="2200"/>
              <a:buNone/>
            </a:pPr>
            <a:endParaRPr/>
          </a:p>
        </p:txBody>
      </p:sp>
      <p:graphicFrame>
        <p:nvGraphicFramePr>
          <p:cNvPr id="161" name="Google Shape;161;p4" descr="Alt text required"/>
          <p:cNvGraphicFramePr/>
          <p:nvPr>
            <p:extLst>
              <p:ext uri="{D42A27DB-BD31-4B8C-83A1-F6EECF244321}">
                <p14:modId xmlns:p14="http://schemas.microsoft.com/office/powerpoint/2010/main" val="3148380556"/>
              </p:ext>
            </p:extLst>
          </p:nvPr>
        </p:nvGraphicFramePr>
        <p:xfrm>
          <a:off x="3171900" y="2407980"/>
          <a:ext cx="7835225" cy="445002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EXP-53-CPP</a:t>
                      </a:r>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STR-52-CPP</a:t>
                      </a:r>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ERR-56-CPP</a:t>
                      </a:r>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MEM-50-CPP</a:t>
                      </a:r>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MSC-1-C</a:t>
                      </a:r>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ERR-51-CPP</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DCL-12-C</a:t>
                      </a:r>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FIO-51-CPP</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1400" b="0" i="0" u="none" strike="noStrike" cap="none" dirty="0">
                          <a:solidFill>
                            <a:srgbClr val="000000"/>
                          </a:solidFill>
                          <a:effectLst/>
                          <a:latin typeface="Arial"/>
                          <a:ea typeface="Arial"/>
                          <a:cs typeface="Arial"/>
                          <a:sym typeface="Arial"/>
                        </a:rPr>
                        <a:t>EXP-53-CPP</a:t>
                      </a:r>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1400" b="0" i="0" u="none" strike="noStrike" cap="none" dirty="0">
                          <a:solidFill>
                            <a:srgbClr val="000000"/>
                          </a:solidFill>
                          <a:effectLst/>
                          <a:latin typeface="Arial"/>
                          <a:ea typeface="Arial"/>
                          <a:cs typeface="Arial"/>
                          <a:sym typeface="Arial"/>
                        </a:rPr>
                        <a:t>STR-52-CPP</a:t>
                      </a:r>
                      <a:endParaRPr lang="en-US" sz="1400" u="none" strike="noStrike" cap="none" dirty="0"/>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1400" b="0" i="0" u="none" strike="noStrike" cap="none" dirty="0">
                          <a:solidFill>
                            <a:srgbClr val="000000"/>
                          </a:solidFill>
                          <a:effectLst/>
                          <a:latin typeface="Arial"/>
                          <a:ea typeface="Arial"/>
                          <a:cs typeface="Arial"/>
                          <a:sym typeface="Arial"/>
                        </a:rPr>
                        <a:t>ERR-56-CPP</a:t>
                      </a:r>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1400" b="0" i="0" u="none" strike="noStrike" cap="none" dirty="0">
                          <a:solidFill>
                            <a:srgbClr val="000000"/>
                          </a:solidFill>
                          <a:effectLst/>
                          <a:latin typeface="Arial"/>
                          <a:ea typeface="Arial"/>
                          <a:cs typeface="Arial"/>
                          <a:sym typeface="Arial"/>
                        </a:rPr>
                        <a:t>MEM-50-CPP</a:t>
                      </a:r>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1400" b="0" i="0" u="none" strike="noStrike" cap="none" dirty="0">
                          <a:solidFill>
                            <a:srgbClr val="000000"/>
                          </a:solidFill>
                          <a:effectLst/>
                          <a:latin typeface="Arial"/>
                          <a:ea typeface="Arial"/>
                          <a:cs typeface="Arial"/>
                          <a:sym typeface="Arial"/>
                        </a:rPr>
                        <a:t>MSC-1-C</a:t>
                      </a:r>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1400" b="0" i="0" u="none" strike="noStrike" cap="none" dirty="0">
                          <a:solidFill>
                            <a:srgbClr val="000000"/>
                          </a:solidFill>
                          <a:effectLst/>
                          <a:latin typeface="Arial"/>
                          <a:ea typeface="Arial"/>
                          <a:cs typeface="Arial"/>
                          <a:sym typeface="Arial"/>
                        </a:rPr>
                        <a:t>ERR-51-CPP</a:t>
                      </a:r>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1400" b="0" i="0" u="none" strike="noStrike" cap="none" dirty="0">
                          <a:solidFill>
                            <a:srgbClr val="000000"/>
                          </a:solidFill>
                          <a:effectLst/>
                          <a:latin typeface="Arial"/>
                          <a:ea typeface="Arial"/>
                          <a:cs typeface="Arial"/>
                          <a:sym typeface="Arial"/>
                        </a:rPr>
                        <a:t>MSC-50-CPP</a:t>
                      </a:r>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1400" b="0" i="0" u="none" strike="noStrike" cap="none" dirty="0">
                          <a:solidFill>
                            <a:srgbClr val="000000"/>
                          </a:solidFill>
                          <a:effectLst/>
                          <a:latin typeface="Arial"/>
                          <a:ea typeface="Arial"/>
                          <a:cs typeface="Arial"/>
                          <a:sym typeface="Arial"/>
                        </a:rPr>
                        <a:t>DCL-60-CPP</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DCL-12-C</a:t>
                      </a:r>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FIO-51-CPP</a:t>
                      </a:r>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MSC-50-CPP</a:t>
                      </a:r>
                    </a:p>
                    <a:p>
                      <a:pPr marL="0" marR="0" lvl="0" indent="0" algn="ctr" rtl="0">
                        <a:lnSpc>
                          <a:spcPct val="100000"/>
                        </a:lnSpc>
                        <a:spcBef>
                          <a:spcPts val="0"/>
                        </a:spcBef>
                        <a:spcAft>
                          <a:spcPts val="0"/>
                        </a:spcAft>
                        <a:buClr>
                          <a:srgbClr val="000000"/>
                        </a:buClr>
                        <a:buSzPts val="3600"/>
                        <a:buFont typeface="Arial"/>
                        <a:buNone/>
                      </a:pPr>
                      <a:r>
                        <a:rPr lang="en-US" sz="1400" b="0" i="0" u="none" strike="noStrike" cap="none" dirty="0">
                          <a:solidFill>
                            <a:srgbClr val="000000"/>
                          </a:solidFill>
                          <a:effectLst/>
                          <a:latin typeface="Arial"/>
                          <a:ea typeface="Arial"/>
                          <a:cs typeface="Arial"/>
                          <a:sym typeface="Arial"/>
                        </a:rPr>
                        <a:t>DCL-60-CPP</a:t>
                      </a:r>
                    </a:p>
                    <a:p>
                      <a:pPr marL="0" marR="0" lvl="0" indent="0" algn="ctr" rtl="0">
                        <a:lnSpc>
                          <a:spcPct val="100000"/>
                        </a:lnSpc>
                        <a:spcBef>
                          <a:spcPts val="0"/>
                        </a:spcBef>
                        <a:spcAft>
                          <a:spcPts val="0"/>
                        </a:spcAft>
                        <a:buClr>
                          <a:srgbClr val="000000"/>
                        </a:buClr>
                        <a:buSzPts val="3600"/>
                        <a:buFont typeface="Arial"/>
                        <a:buNone/>
                      </a:pP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200"/>
            </a:pPr>
            <a:r>
              <a:rPr lang="en-US" dirty="0"/>
              <a:t>1.) Validate</a:t>
            </a:r>
            <a:r>
              <a:rPr lang="en-US" b="1" dirty="0"/>
              <a:t> </a:t>
            </a:r>
            <a:r>
              <a:rPr lang="en-US" dirty="0"/>
              <a:t>Input Data:</a:t>
            </a:r>
          </a:p>
          <a:p>
            <a:pPr marL="228600" lvl="0" indent="-228600">
              <a:spcBef>
                <a:spcPts val="0"/>
              </a:spcBef>
              <a:buSzPts val="2200"/>
            </a:pPr>
            <a:r>
              <a:rPr lang="en-US" dirty="0"/>
              <a:t>2.) Heed Compiler Warnings: 2,</a:t>
            </a:r>
          </a:p>
          <a:p>
            <a:pPr marL="228600" lvl="0" indent="-228600">
              <a:spcBef>
                <a:spcPts val="0"/>
              </a:spcBef>
              <a:buSzPts val="2200"/>
            </a:pPr>
            <a:r>
              <a:rPr lang="en-US" dirty="0"/>
              <a:t>3.) Architect and Design for Security Policies:1, 3, 4, 7, 10</a:t>
            </a:r>
          </a:p>
          <a:p>
            <a:pPr marL="228600" lvl="0" indent="-228600">
              <a:spcBef>
                <a:spcPts val="0"/>
              </a:spcBef>
              <a:buSzPts val="2200"/>
            </a:pPr>
            <a:r>
              <a:rPr lang="en-US" dirty="0"/>
              <a:t>4.) Keep It Simple: 8, </a:t>
            </a:r>
          </a:p>
          <a:p>
            <a:pPr marL="228600" lvl="0" indent="-228600">
              <a:spcBef>
                <a:spcPts val="0"/>
              </a:spcBef>
              <a:buSzPts val="2200"/>
            </a:pPr>
            <a:r>
              <a:rPr lang="en-US" dirty="0"/>
              <a:t>5.) Default Deny:</a:t>
            </a:r>
          </a:p>
          <a:p>
            <a:pPr marL="228600" lvl="0" indent="-228600">
              <a:spcBef>
                <a:spcPts val="0"/>
              </a:spcBef>
              <a:buSzPts val="2200"/>
            </a:pPr>
            <a:r>
              <a:rPr lang="en-US" dirty="0"/>
              <a:t>6.) Adhere to the Principle of Least Privilege: 1,</a:t>
            </a:r>
          </a:p>
          <a:p>
            <a:pPr marL="228600" lvl="0" indent="-228600">
              <a:spcBef>
                <a:spcPts val="0"/>
              </a:spcBef>
              <a:buSzPts val="2200"/>
            </a:pPr>
            <a:r>
              <a:rPr lang="en-US" dirty="0"/>
              <a:t>7.) Sanitize Data Sent to Other Systems:</a:t>
            </a:r>
          </a:p>
          <a:p>
            <a:pPr marL="228600" lvl="0" indent="-228600">
              <a:spcBef>
                <a:spcPts val="0"/>
              </a:spcBef>
              <a:buSzPts val="2200"/>
            </a:pPr>
            <a:r>
              <a:rPr lang="en-US" dirty="0"/>
              <a:t>8.) Practice Defense in Depth: 6, </a:t>
            </a:r>
          </a:p>
          <a:p>
            <a:pPr marL="228600" lvl="0" indent="-228600">
              <a:spcBef>
                <a:spcPts val="0"/>
              </a:spcBef>
              <a:buSzPts val="2200"/>
            </a:pPr>
            <a:r>
              <a:rPr lang="en-US" dirty="0"/>
              <a:t>9.) Use Effective Quality Assurance Techniques: 2,</a:t>
            </a:r>
          </a:p>
          <a:p>
            <a:pPr marL="228600" lvl="0" indent="-228600">
              <a:spcBef>
                <a:spcPts val="0"/>
              </a:spcBef>
              <a:buSzPts val="2200"/>
            </a:pPr>
            <a:r>
              <a:rPr lang="en-US" dirty="0"/>
              <a:t>10.) Adopt a Secure Coding Standard: 3, 5, 7, 8, 9</a:t>
            </a:r>
            <a:endParaRPr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[List the 10 coding standards. Explain your own ranking system for vulnerabilities, using specific details from the coding standards in your security policy.]</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1.)DCL-12-C(Priority 1)</a:t>
            </a:r>
          </a:p>
          <a:p>
            <a:pPr marL="228600" lvl="0" indent="-228600" algn="l" rtl="0">
              <a:lnSpc>
                <a:spcPct val="90000"/>
              </a:lnSpc>
              <a:spcBef>
                <a:spcPts val="0"/>
              </a:spcBef>
              <a:spcAft>
                <a:spcPts val="0"/>
              </a:spcAft>
              <a:buClr>
                <a:schemeClr val="lt1"/>
              </a:buClr>
              <a:buSzPts val="2000"/>
              <a:buChar char="•"/>
            </a:pPr>
            <a:r>
              <a:rPr lang="en-US" sz="2000" dirty="0"/>
              <a:t>2.)FIO-51-CPP(Priority 2)</a:t>
            </a:r>
          </a:p>
          <a:p>
            <a:pPr marL="228600" lvl="0" indent="-228600" algn="l" rtl="0">
              <a:lnSpc>
                <a:spcPct val="90000"/>
              </a:lnSpc>
              <a:spcBef>
                <a:spcPts val="0"/>
              </a:spcBef>
              <a:spcAft>
                <a:spcPts val="0"/>
              </a:spcAft>
              <a:buClr>
                <a:schemeClr val="lt1"/>
              </a:buClr>
              <a:buSzPts val="2000"/>
              <a:buChar char="•"/>
            </a:pPr>
            <a:r>
              <a:rPr lang="en-US" sz="2000" dirty="0"/>
              <a:t>3.)MSC-50-CPP(Priority 4)</a:t>
            </a:r>
          </a:p>
          <a:p>
            <a:pPr marL="228600" lvl="0" indent="-228600" algn="l" rtl="0">
              <a:lnSpc>
                <a:spcPct val="90000"/>
              </a:lnSpc>
              <a:spcBef>
                <a:spcPts val="0"/>
              </a:spcBef>
              <a:spcAft>
                <a:spcPts val="0"/>
              </a:spcAft>
              <a:buClr>
                <a:schemeClr val="lt1"/>
              </a:buClr>
              <a:buSzPts val="2000"/>
              <a:buChar char="•"/>
            </a:pPr>
            <a:r>
              <a:rPr lang="en-US" sz="2000" dirty="0"/>
              <a:t>4.)STR-52-CPP(Priority 6, high cost)</a:t>
            </a:r>
          </a:p>
          <a:p>
            <a:pPr marL="228600" lvl="0" indent="-228600" algn="l" rtl="0">
              <a:lnSpc>
                <a:spcPct val="90000"/>
              </a:lnSpc>
              <a:spcBef>
                <a:spcPts val="0"/>
              </a:spcBef>
              <a:spcAft>
                <a:spcPts val="0"/>
              </a:spcAft>
              <a:buClr>
                <a:schemeClr val="lt1"/>
              </a:buClr>
              <a:buSzPts val="2000"/>
              <a:buChar char="•"/>
            </a:pPr>
            <a:r>
              <a:rPr lang="en-US" sz="2000" dirty="0"/>
              <a:t>5.)DLC-60-CPP(Priority 6, medium cost)</a:t>
            </a:r>
          </a:p>
          <a:p>
            <a:pPr marL="228600" lvl="0" indent="-228600" algn="l" rtl="0">
              <a:lnSpc>
                <a:spcPct val="90000"/>
              </a:lnSpc>
              <a:spcBef>
                <a:spcPts val="0"/>
              </a:spcBef>
              <a:spcAft>
                <a:spcPts val="0"/>
              </a:spcAft>
              <a:buClr>
                <a:schemeClr val="lt1"/>
              </a:buClr>
              <a:buSzPts val="2000"/>
              <a:buChar char="•"/>
            </a:pPr>
            <a:r>
              <a:rPr lang="en-US" sz="2000" dirty="0"/>
              <a:t>6.)ERR-51-CPP(Priority 6, low cost, low severity)</a:t>
            </a:r>
          </a:p>
          <a:p>
            <a:pPr marL="228600" indent="-228600">
              <a:spcBef>
                <a:spcPts val="0"/>
              </a:spcBef>
              <a:buSzPts val="2000"/>
            </a:pPr>
            <a:r>
              <a:rPr lang="en-US" sz="2000" dirty="0"/>
              <a:t>7.)MEM-50-CPP(Priority 9)</a:t>
            </a:r>
          </a:p>
          <a:p>
            <a:pPr marL="228600" indent="-228600">
              <a:spcBef>
                <a:spcPts val="0"/>
              </a:spcBef>
              <a:buSzPts val="2000"/>
            </a:pPr>
            <a:r>
              <a:rPr lang="en-US" sz="2000" dirty="0"/>
              <a:t>8.)ERR-56-CPP(Priority 9)</a:t>
            </a:r>
          </a:p>
          <a:p>
            <a:pPr marL="228600" indent="-228600">
              <a:spcBef>
                <a:spcPts val="0"/>
              </a:spcBef>
              <a:buSzPts val="2000"/>
            </a:pPr>
            <a:r>
              <a:rPr lang="en-US" sz="2000" dirty="0"/>
              <a:t>9.)MSC-1-C(Priority 9)</a:t>
            </a:r>
          </a:p>
          <a:p>
            <a:pPr marL="228600" indent="-228600">
              <a:spcBef>
                <a:spcPts val="0"/>
              </a:spcBef>
              <a:buSzPts val="2000"/>
            </a:pPr>
            <a:r>
              <a:rPr lang="en-US" sz="2000" dirty="0"/>
              <a:t>10.)EXP-53-CPP(Priority 12)</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There are three types of encryption</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There is encryption at rest</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There is also encryption in transit</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Lastly, there is encryption in use</a:t>
            </a:r>
            <a:endParaRPr sz="1600" dirty="0"/>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r>
              <a:rPr lang="en-US" sz="2400" dirty="0"/>
              <a:t>There are three “triple-A” policies in cybersecurity</a:t>
            </a:r>
          </a:p>
          <a:p>
            <a:pPr marL="228600" lvl="0" indent="-228600" algn="l" rtl="0">
              <a:lnSpc>
                <a:spcPct val="90000"/>
              </a:lnSpc>
              <a:spcBef>
                <a:spcPts val="0"/>
              </a:spcBef>
              <a:spcAft>
                <a:spcPts val="0"/>
              </a:spcAft>
              <a:buClr>
                <a:schemeClr val="lt1"/>
              </a:buClr>
              <a:buSzPts val="2400"/>
              <a:buChar char="•"/>
            </a:pPr>
            <a:endParaRPr lang="en-US" sz="2400" dirty="0"/>
          </a:p>
          <a:p>
            <a:pPr marL="228600" lvl="0" indent="-228600" algn="l" rtl="0">
              <a:lnSpc>
                <a:spcPct val="90000"/>
              </a:lnSpc>
              <a:spcBef>
                <a:spcPts val="0"/>
              </a:spcBef>
              <a:spcAft>
                <a:spcPts val="0"/>
              </a:spcAft>
              <a:buClr>
                <a:schemeClr val="lt1"/>
              </a:buClr>
              <a:buSzPts val="2400"/>
              <a:buChar char="•"/>
            </a:pPr>
            <a:r>
              <a:rPr lang="en-US" sz="2400" dirty="0"/>
              <a:t>The first A is Authentication</a:t>
            </a:r>
          </a:p>
          <a:p>
            <a:pPr marL="228600" lvl="0" indent="-228600" algn="l" rtl="0">
              <a:lnSpc>
                <a:spcPct val="90000"/>
              </a:lnSpc>
              <a:spcBef>
                <a:spcPts val="0"/>
              </a:spcBef>
              <a:spcAft>
                <a:spcPts val="0"/>
              </a:spcAft>
              <a:buClr>
                <a:schemeClr val="lt1"/>
              </a:buClr>
              <a:buSzPts val="2400"/>
              <a:buChar char="•"/>
            </a:pPr>
            <a:endParaRPr lang="en-US" sz="2400" dirty="0"/>
          </a:p>
          <a:p>
            <a:pPr marL="228600" lvl="0" indent="-228600" algn="l" rtl="0">
              <a:lnSpc>
                <a:spcPct val="90000"/>
              </a:lnSpc>
              <a:spcBef>
                <a:spcPts val="0"/>
              </a:spcBef>
              <a:spcAft>
                <a:spcPts val="0"/>
              </a:spcAft>
              <a:buClr>
                <a:schemeClr val="lt1"/>
              </a:buClr>
              <a:buSzPts val="2400"/>
              <a:buChar char="•"/>
            </a:pPr>
            <a:r>
              <a:rPr lang="en-US" sz="2400" dirty="0"/>
              <a:t>The second A is Authorization</a:t>
            </a:r>
          </a:p>
          <a:p>
            <a:pPr marL="228600" lvl="0" indent="-228600" algn="l" rtl="0">
              <a:lnSpc>
                <a:spcPct val="90000"/>
              </a:lnSpc>
              <a:spcBef>
                <a:spcPts val="0"/>
              </a:spcBef>
              <a:spcAft>
                <a:spcPts val="0"/>
              </a:spcAft>
              <a:buClr>
                <a:schemeClr val="lt1"/>
              </a:buClr>
              <a:buSzPts val="2400"/>
              <a:buChar char="•"/>
            </a:pPr>
            <a:endParaRPr lang="en-US" sz="2400" dirty="0"/>
          </a:p>
          <a:p>
            <a:pPr marL="228600" lvl="0" indent="-228600" algn="l" rtl="0">
              <a:lnSpc>
                <a:spcPct val="90000"/>
              </a:lnSpc>
              <a:spcBef>
                <a:spcPts val="0"/>
              </a:spcBef>
              <a:spcAft>
                <a:spcPts val="0"/>
              </a:spcAft>
              <a:buClr>
                <a:schemeClr val="lt1"/>
              </a:buClr>
              <a:buSzPts val="2400"/>
              <a:buChar char="•"/>
            </a:pPr>
            <a:r>
              <a:rPr lang="en-US" sz="2400" dirty="0"/>
              <a:t>The last A is Accounting</a:t>
            </a: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The issue that I have chosen is that of making sure to close all files after they are no longer needed and not in use.</a:t>
            </a:r>
          </a:p>
          <a:p>
            <a:pPr marL="0" lvl="0" indent="0" algn="l" rtl="0">
              <a:lnSpc>
                <a:spcPct val="90000"/>
              </a:lnSpc>
              <a:spcBef>
                <a:spcPts val="1000"/>
              </a:spcBef>
              <a:spcAft>
                <a:spcPts val="0"/>
              </a:spcAft>
              <a:buSzPts val="1800"/>
              <a:buNone/>
            </a:pPr>
            <a:endParaRPr lang="en-US" dirty="0"/>
          </a:p>
          <a:p>
            <a:pPr marL="0" lvl="0" indent="0" algn="l" rtl="0">
              <a:lnSpc>
                <a:spcPct val="90000"/>
              </a:lnSpc>
              <a:spcBef>
                <a:spcPts val="1000"/>
              </a:spcBef>
              <a:spcAft>
                <a:spcPts val="0"/>
              </a:spcAft>
              <a:buSzPts val="1800"/>
              <a:buNone/>
            </a:pPr>
            <a:r>
              <a:rPr lang="en-US" dirty="0"/>
              <a:t>I have prepared different unit tests to check if the file did, or did not close</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7F66-7D66-3856-2EE9-43D3E25BCD69}"/>
              </a:ext>
            </a:extLst>
          </p:cNvPr>
          <p:cNvSpPr>
            <a:spLocks noGrp="1"/>
          </p:cNvSpPr>
          <p:nvPr>
            <p:ph type="title"/>
          </p:nvPr>
        </p:nvSpPr>
        <p:spPr/>
        <p:txBody>
          <a:bodyPr/>
          <a:lstStyle/>
          <a:p>
            <a:r>
              <a:rPr lang="en-US" dirty="0"/>
              <a:t>Will Mock Test Say Close Was Called Once?</a:t>
            </a:r>
          </a:p>
        </p:txBody>
      </p:sp>
      <p:sp>
        <p:nvSpPr>
          <p:cNvPr id="5" name="Text Placeholder 4">
            <a:extLst>
              <a:ext uri="{FF2B5EF4-FFF2-40B4-BE49-F238E27FC236}">
                <a16:creationId xmlns:a16="http://schemas.microsoft.com/office/drawing/2014/main" id="{271CAF4F-BFED-0D5A-6559-A5C66797701D}"/>
              </a:ext>
            </a:extLst>
          </p:cNvPr>
          <p:cNvSpPr>
            <a:spLocks noGrp="1"/>
          </p:cNvSpPr>
          <p:nvPr>
            <p:ph type="body" idx="1"/>
          </p:nvPr>
        </p:nvSpPr>
        <p:spPr/>
        <p:txBody>
          <a:bodyPr>
            <a:normAutofit/>
          </a:bodyPr>
          <a:lstStyle/>
          <a:p>
            <a:pPr marL="114300" indent="0">
              <a:buNone/>
            </a:pPr>
            <a:r>
              <a:rPr lang="en-US" sz="1800" dirty="0"/>
              <a:t>from </a:t>
            </a:r>
            <a:r>
              <a:rPr lang="en-US" sz="1800" dirty="0" err="1"/>
              <a:t>unittest</a:t>
            </a:r>
            <a:r>
              <a:rPr lang="en-US" sz="1800" dirty="0"/>
              <a:t> import </a:t>
            </a:r>
            <a:r>
              <a:rPr lang="en-US" sz="1800" dirty="0" err="1"/>
              <a:t>TestCase</a:t>
            </a:r>
            <a:endParaRPr lang="en-US" sz="1800" dirty="0"/>
          </a:p>
          <a:p>
            <a:pPr marL="114300" indent="0">
              <a:buNone/>
            </a:pPr>
            <a:r>
              <a:rPr lang="en-US" sz="1800" dirty="0"/>
              <a:t>from </a:t>
            </a:r>
            <a:r>
              <a:rPr lang="en-US" sz="1800" dirty="0" err="1"/>
              <a:t>unittest.mock</a:t>
            </a:r>
            <a:r>
              <a:rPr lang="en-US" sz="1800" dirty="0"/>
              <a:t> import patch, </a:t>
            </a:r>
            <a:r>
              <a:rPr lang="en-US" sz="1800" dirty="0" err="1"/>
              <a:t>mock_open</a:t>
            </a:r>
            <a:endParaRPr lang="en-US" sz="1800" dirty="0"/>
          </a:p>
          <a:p>
            <a:pPr marL="114300" indent="0">
              <a:buNone/>
            </a:pPr>
            <a:r>
              <a:rPr lang="en-US" sz="1800" dirty="0"/>
              <a:t>	class </a:t>
            </a:r>
            <a:r>
              <a:rPr lang="en-US" sz="1800" dirty="0" err="1"/>
              <a:t>FileHandlerTest</a:t>
            </a:r>
            <a:r>
              <a:rPr lang="en-US" sz="1800" dirty="0"/>
              <a:t>(</a:t>
            </a:r>
            <a:r>
              <a:rPr lang="en-US" sz="1800" dirty="0" err="1"/>
              <a:t>TestCase</a:t>
            </a:r>
            <a:r>
              <a:rPr lang="en-US" sz="1800" dirty="0"/>
              <a:t>): @patch("builtins.open", </a:t>
            </a:r>
            <a:r>
              <a:rPr lang="en-US" sz="1800" dirty="0" err="1"/>
              <a:t>new_callable</a:t>
            </a:r>
            <a:r>
              <a:rPr lang="en-US" sz="1800" dirty="0"/>
              <a:t>=</a:t>
            </a:r>
            <a:r>
              <a:rPr lang="en-US" sz="1800" dirty="0" err="1"/>
              <a:t>mock_open</a:t>
            </a:r>
            <a:r>
              <a:rPr lang="en-US" sz="1800" dirty="0"/>
              <a:t>)</a:t>
            </a:r>
          </a:p>
          <a:p>
            <a:pPr marL="114300" indent="0">
              <a:buNone/>
            </a:pPr>
            <a:r>
              <a:rPr lang="en-US" sz="1800" dirty="0"/>
              <a:t>	def </a:t>
            </a:r>
            <a:r>
              <a:rPr lang="en-US" sz="1800" dirty="0" err="1"/>
              <a:t>test_file_is_closed</a:t>
            </a:r>
            <a:r>
              <a:rPr lang="en-US" sz="1800" dirty="0"/>
              <a:t>(self, </a:t>
            </a:r>
            <a:r>
              <a:rPr lang="en-US" sz="1800" dirty="0" err="1"/>
              <a:t>mock_file_obj</a:t>
            </a:r>
            <a:r>
              <a:rPr lang="en-US" sz="1800" dirty="0"/>
              <a:t>): </a:t>
            </a:r>
          </a:p>
          <a:p>
            <a:pPr marL="114300" indent="0">
              <a:buNone/>
            </a:pPr>
            <a:r>
              <a:rPr lang="en-US" sz="1800" dirty="0"/>
              <a:t>	</a:t>
            </a:r>
            <a:r>
              <a:rPr lang="en-US" sz="1800" dirty="0" err="1"/>
              <a:t>mock_file_obj.return_value.close.assert_called_once</a:t>
            </a:r>
            <a:r>
              <a:rPr lang="en-US" sz="1800" dirty="0"/>
              <a:t>()</a:t>
            </a:r>
          </a:p>
        </p:txBody>
      </p:sp>
    </p:spTree>
    <p:extLst>
      <p:ext uri="{BB962C8B-B14F-4D97-AF65-F5344CB8AC3E}">
        <p14:creationId xmlns:p14="http://schemas.microsoft.com/office/powerpoint/2010/main" val="2240762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AB6A3-8752-F437-0B65-29FFCA1F695B}"/>
              </a:ext>
            </a:extLst>
          </p:cNvPr>
          <p:cNvSpPr>
            <a:spLocks noGrp="1"/>
          </p:cNvSpPr>
          <p:nvPr>
            <p:ph type="title"/>
          </p:nvPr>
        </p:nvSpPr>
        <p:spPr/>
        <p:txBody>
          <a:bodyPr/>
          <a:lstStyle/>
          <a:p>
            <a:r>
              <a:rPr lang="en-US" dirty="0"/>
              <a:t>Will the OS throw an error if not closed?</a:t>
            </a:r>
          </a:p>
        </p:txBody>
      </p:sp>
      <p:sp>
        <p:nvSpPr>
          <p:cNvPr id="3" name="Text Placeholder 2">
            <a:extLst>
              <a:ext uri="{FF2B5EF4-FFF2-40B4-BE49-F238E27FC236}">
                <a16:creationId xmlns:a16="http://schemas.microsoft.com/office/drawing/2014/main" id="{E6780D13-47AF-1F99-7511-EF7DCFAC88FA}"/>
              </a:ext>
            </a:extLst>
          </p:cNvPr>
          <p:cNvSpPr>
            <a:spLocks noGrp="1"/>
          </p:cNvSpPr>
          <p:nvPr>
            <p:ph type="body" idx="1"/>
          </p:nvPr>
        </p:nvSpPr>
        <p:spPr/>
        <p:txBody>
          <a:bodyPr>
            <a:normAutofit fontScale="77500" lnSpcReduction="20000"/>
          </a:bodyPr>
          <a:lstStyle/>
          <a:p>
            <a:pPr marL="114300" indent="0">
              <a:buNone/>
            </a:pPr>
            <a:r>
              <a:rPr lang="en-US" dirty="0"/>
              <a:t>import </a:t>
            </a:r>
            <a:r>
              <a:rPr lang="en-US" dirty="0" err="1"/>
              <a:t>os</a:t>
            </a:r>
            <a:endParaRPr lang="en-US" dirty="0"/>
          </a:p>
          <a:p>
            <a:pPr marL="114300" indent="0">
              <a:buNone/>
            </a:pPr>
            <a:r>
              <a:rPr lang="en-US" dirty="0"/>
              <a:t>import </a:t>
            </a:r>
            <a:r>
              <a:rPr lang="en-US" dirty="0" err="1"/>
              <a:t>unittest</a:t>
            </a:r>
            <a:endParaRPr lang="en-US" dirty="0"/>
          </a:p>
          <a:p>
            <a:pPr marL="114300" indent="0">
              <a:buNone/>
            </a:pPr>
            <a:r>
              <a:rPr lang="en-US" dirty="0"/>
              <a:t>class </a:t>
            </a:r>
            <a:r>
              <a:rPr lang="en-US" dirty="0" err="1"/>
              <a:t>FileLockTest</a:t>
            </a:r>
            <a:r>
              <a:rPr lang="en-US" dirty="0"/>
              <a:t>(</a:t>
            </a:r>
            <a:r>
              <a:rPr lang="en-US" dirty="0" err="1"/>
              <a:t>unittest.TestCase</a:t>
            </a:r>
            <a:r>
              <a:rPr lang="en-US" dirty="0"/>
              <a:t>):</a:t>
            </a:r>
          </a:p>
          <a:p>
            <a:pPr marL="114300" indent="0">
              <a:buNone/>
            </a:pPr>
            <a:r>
              <a:rPr lang="en-US" dirty="0"/>
              <a:t>	def </a:t>
            </a:r>
            <a:r>
              <a:rPr lang="en-US" dirty="0" err="1"/>
              <a:t>test_file_is_released</a:t>
            </a:r>
            <a:r>
              <a:rPr lang="en-US" dirty="0"/>
              <a:t>(self):</a:t>
            </a:r>
          </a:p>
          <a:p>
            <a:pPr marL="114300" indent="0">
              <a:buNone/>
            </a:pPr>
            <a:r>
              <a:rPr lang="en-US" dirty="0"/>
              <a:t>	</a:t>
            </a:r>
            <a:r>
              <a:rPr lang="en-US" dirty="0" err="1"/>
              <a:t>file_path</a:t>
            </a:r>
            <a:r>
              <a:rPr lang="en-US" dirty="0"/>
              <a:t> = "test_file.txt“</a:t>
            </a:r>
          </a:p>
          <a:p>
            <a:pPr marL="114300" indent="0">
              <a:buNone/>
            </a:pPr>
            <a:r>
              <a:rPr lang="en-US" dirty="0"/>
              <a:t>	try:</a:t>
            </a:r>
          </a:p>
          <a:p>
            <a:pPr marL="114300" indent="0">
              <a:buNone/>
            </a:pPr>
            <a:r>
              <a:rPr lang="en-US" dirty="0"/>
              <a:t>		</a:t>
            </a:r>
            <a:r>
              <a:rPr lang="en-US" dirty="0" err="1"/>
              <a:t>os.rename</a:t>
            </a:r>
            <a:r>
              <a:rPr lang="en-US" dirty="0"/>
              <a:t>(</a:t>
            </a:r>
            <a:r>
              <a:rPr lang="en-US" dirty="0" err="1"/>
              <a:t>file_path</a:t>
            </a:r>
            <a:r>
              <a:rPr lang="en-US" dirty="0"/>
              <a:t>, </a:t>
            </a:r>
            <a:r>
              <a:rPr lang="en-US" dirty="0" err="1"/>
              <a:t>file_path</a:t>
            </a:r>
            <a:r>
              <a:rPr lang="en-US" dirty="0"/>
              <a:t>)</a:t>
            </a:r>
          </a:p>
          <a:p>
            <a:pPr marL="114300" indent="0">
              <a:buNone/>
            </a:pPr>
            <a:r>
              <a:rPr lang="en-US" dirty="0"/>
              <a:t>	except </a:t>
            </a:r>
            <a:r>
              <a:rPr lang="en-US" dirty="0" err="1"/>
              <a:t>OSError</a:t>
            </a:r>
            <a:r>
              <a:rPr lang="en-US" dirty="0"/>
              <a:t>:</a:t>
            </a:r>
          </a:p>
          <a:p>
            <a:pPr marL="114300" indent="0">
              <a:buNone/>
            </a:pPr>
            <a:r>
              <a:rPr lang="en-US" dirty="0"/>
              <a:t>		 </a:t>
            </a:r>
            <a:r>
              <a:rPr lang="en-US" dirty="0" err="1"/>
              <a:t>self.fail</a:t>
            </a:r>
            <a:r>
              <a:rPr lang="en-US" dirty="0"/>
              <a:t>("File is still locked by an open process.")</a:t>
            </a:r>
          </a:p>
          <a:p>
            <a:pPr marL="114300" indent="0">
              <a:buNone/>
            </a:pPr>
            <a:r>
              <a:rPr lang="en-US" dirty="0"/>
              <a:t>	finally:</a:t>
            </a:r>
          </a:p>
          <a:p>
            <a:pPr marL="114300" indent="0">
              <a:buNone/>
            </a:pPr>
            <a:r>
              <a:rPr lang="en-US" dirty="0"/>
              <a:t> 		if </a:t>
            </a:r>
            <a:r>
              <a:rPr lang="en-US" dirty="0" err="1"/>
              <a:t>os.path.exists</a:t>
            </a:r>
            <a:r>
              <a:rPr lang="en-US" dirty="0"/>
              <a:t>(</a:t>
            </a:r>
            <a:r>
              <a:rPr lang="en-US" dirty="0" err="1"/>
              <a:t>file_path</a:t>
            </a:r>
            <a:r>
              <a:rPr lang="en-US" dirty="0"/>
              <a:t>): </a:t>
            </a:r>
          </a:p>
          <a:p>
            <a:pPr marL="114300" indent="0">
              <a:buNone/>
            </a:pPr>
            <a:r>
              <a:rPr lang="en-US" dirty="0"/>
              <a:t>		</a:t>
            </a:r>
            <a:r>
              <a:rPr lang="en-US" dirty="0" err="1"/>
              <a:t>os.remove</a:t>
            </a:r>
            <a:r>
              <a:rPr lang="en-US" dirty="0"/>
              <a:t>(</a:t>
            </a:r>
            <a:r>
              <a:rPr lang="en-US" dirty="0" err="1"/>
              <a:t>file_path</a:t>
            </a:r>
            <a:r>
              <a:rPr lang="en-US" dirty="0"/>
              <a:t>) 	</a:t>
            </a:r>
          </a:p>
        </p:txBody>
      </p:sp>
    </p:spTree>
    <p:extLst>
      <p:ext uri="{BB962C8B-B14F-4D97-AF65-F5344CB8AC3E}">
        <p14:creationId xmlns:p14="http://schemas.microsoft.com/office/powerpoint/2010/main" val="3652559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457200" lvl="1" indent="0" algn="l" rtl="0">
              <a:lnSpc>
                <a:spcPct val="90000"/>
              </a:lnSpc>
              <a:spcBef>
                <a:spcPts val="0"/>
              </a:spcBef>
              <a:spcAft>
                <a:spcPts val="0"/>
              </a:spcAft>
              <a:buClr>
                <a:schemeClr val="lt1"/>
              </a:buClr>
              <a:buSzPts val="2000"/>
              <a:buNone/>
            </a:pPr>
            <a:r>
              <a:rPr lang="en-US" sz="1600" dirty="0"/>
              <a:t>There are various outside tools to help, including things like </a:t>
            </a:r>
            <a:r>
              <a:rPr lang="en-US" sz="1600" dirty="0" err="1"/>
              <a:t>CPPCheck</a:t>
            </a:r>
            <a:r>
              <a:rPr lang="en-US" sz="1600" dirty="0"/>
              <a:t>, Helix QAC, and </a:t>
            </a:r>
            <a:r>
              <a:rPr lang="en-US" sz="1600" dirty="0" err="1"/>
              <a:t>Axivion</a:t>
            </a:r>
            <a:r>
              <a:rPr lang="en-US" sz="1600" dirty="0"/>
              <a:t> Suite.</a:t>
            </a:r>
            <a:endParaRPr sz="16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There are two main factors here regarding the risks and benefits of acting now, or waiting for later</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The first main factor is going to be the money involved to solve the issue</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The second main factor is both the effort and time involved to solve the issue.</a:t>
            </a:r>
          </a:p>
          <a:p>
            <a:pPr marL="228600" lvl="0" indent="-228600" algn="l" rtl="0">
              <a:lnSpc>
                <a:spcPct val="90000"/>
              </a:lnSpc>
              <a:spcBef>
                <a:spcPts val="0"/>
              </a:spcBef>
              <a:spcAft>
                <a:spcPts val="0"/>
              </a:spcAft>
              <a:buClr>
                <a:schemeClr val="lt1"/>
              </a:buClr>
              <a:buSzPts val="2000"/>
              <a:buChar char="•"/>
            </a:pPr>
            <a:endParaRPr lang="en-US" sz="2000" dirty="0"/>
          </a:p>
          <a:p>
            <a:pPr marL="228600" lvl="0" indent="-228600" algn="l" rtl="0">
              <a:lnSpc>
                <a:spcPct val="90000"/>
              </a:lnSpc>
              <a:spcBef>
                <a:spcPts val="0"/>
              </a:spcBef>
              <a:spcAft>
                <a:spcPts val="0"/>
              </a:spcAft>
              <a:buClr>
                <a:schemeClr val="lt1"/>
              </a:buClr>
              <a:buSzPts val="2000"/>
              <a:buChar char="•"/>
            </a:pPr>
            <a:r>
              <a:rPr lang="en-US" sz="2000" dirty="0"/>
              <a:t>Another main issue is that this particular issue is both hard to automatically detect and to automatically repair.</a:t>
            </a: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spcBef>
                <a:spcPts val="0"/>
              </a:spcBef>
            </a:pPr>
            <a:r>
              <a:rPr lang="en-US" sz="2200" dirty="0"/>
              <a:t>A main area that can be improved upon while looking for gaps in my policy is actually the first principle of verifying input data, and additional the principle of default denying. These both deal with verifying the identity and input of users.</a:t>
            </a:r>
          </a:p>
          <a:p>
            <a:pPr marL="1143000" lvl="2" indent="-228600" algn="l" rtl="0">
              <a:lnSpc>
                <a:spcPct val="90000"/>
              </a:lnSpc>
              <a:spcBef>
                <a:spcPts val="0"/>
              </a:spcBef>
              <a:spcAft>
                <a:spcPts val="0"/>
              </a:spcAft>
              <a:buClr>
                <a:schemeClr val="lt1"/>
              </a:buClr>
              <a:buSzPts val="1800"/>
              <a:buChar char="•"/>
            </a:pPr>
            <a:endParaRPr sz="1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dirty="0"/>
              <a:t>Some standards can be introduced to help these gaps in the security policy.</a:t>
            </a:r>
          </a:p>
          <a:p>
            <a:pPr marL="228600" lvl="0" indent="-228600" algn="l" rtl="0">
              <a:lnSpc>
                <a:spcPct val="90000"/>
              </a:lnSpc>
              <a:spcBef>
                <a:spcPts val="0"/>
              </a:spcBef>
              <a:spcAft>
                <a:spcPts val="0"/>
              </a:spcAft>
              <a:buClr>
                <a:schemeClr val="lt1"/>
              </a:buClr>
              <a:buSzPts val="2200"/>
              <a:buChar char="•"/>
            </a:pPr>
            <a:endParaRPr lang="en-US" sz="1800" dirty="0"/>
          </a:p>
          <a:p>
            <a:pPr marL="228600" lvl="0" indent="-228600">
              <a:spcBef>
                <a:spcPts val="0"/>
              </a:spcBef>
              <a:buSzPts val="2200"/>
            </a:pPr>
            <a:r>
              <a:rPr lang="en-US" sz="1800" dirty="0"/>
              <a:t>The first standard is: FIO30-C. Exclude user input from format strings. This covers input.</a:t>
            </a:r>
          </a:p>
          <a:p>
            <a:pPr marL="228600" lvl="0" indent="-228600">
              <a:spcBef>
                <a:spcPts val="0"/>
              </a:spcBef>
              <a:buSzPts val="2200"/>
            </a:pPr>
            <a:endParaRPr lang="en-US" sz="1800" dirty="0"/>
          </a:p>
          <a:p>
            <a:pPr marL="228600" lvl="0" indent="-228600">
              <a:spcBef>
                <a:spcPts val="0"/>
              </a:spcBef>
              <a:buSzPts val="2200"/>
            </a:pPr>
            <a:r>
              <a:rPr lang="en-US" sz="1800" dirty="0"/>
              <a:t>The second standard is: ERR04-C. Choose an appropriate termination strategy. This covers default deny.</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914400">
              <a:spcBef>
                <a:spcPts val="0"/>
              </a:spcBef>
              <a:buSzPts val="2200"/>
            </a:pPr>
            <a:r>
              <a:rPr lang="en-US" dirty="0"/>
              <a:t>Flashpoint Intel Team. (2014, December 5). </a:t>
            </a:r>
            <a:r>
              <a:rPr lang="en-US" i="1" dirty="0"/>
              <a:t>A breakdown and analysis of the December, 2014 Sony hack | flashpoint</a:t>
            </a:r>
            <a:r>
              <a:rPr lang="en-US" dirty="0"/>
              <a:t>. Flashpoint. https://flashpoint.io/blog/a-breakdown-and-analysis-of-the-december-2014-sony-hack/ </a:t>
            </a:r>
          </a:p>
          <a:p>
            <a:pPr marL="228600" lvl="0" indent="-228600" algn="l" rtl="0">
              <a:lnSpc>
                <a:spcPct val="90000"/>
              </a:lnSpc>
              <a:spcBef>
                <a:spcPts val="0"/>
              </a:spcBef>
              <a:spcAft>
                <a:spcPts val="0"/>
              </a:spcAft>
              <a:buClr>
                <a:schemeClr val="lt1"/>
              </a:buClr>
              <a:buSzPts val="2200"/>
              <a:buChar char="•"/>
            </a:pPr>
            <a:endParaRPr dirty="0"/>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1996</TotalTime>
  <Words>2738</Words>
  <Application>Microsoft Office PowerPoint</Application>
  <PresentationFormat>Widescreen</PresentationFormat>
  <Paragraphs>158</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Will Mock Test Say Close Was Called Once?</vt:lpstr>
      <vt:lpstr>Will the OS throw an error if not closed?</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Josh Ladue</cp:lastModifiedBy>
  <cp:revision>8</cp:revision>
  <dcterms:created xsi:type="dcterms:W3CDTF">2020-08-19T17:59:24Z</dcterms:created>
  <dcterms:modified xsi:type="dcterms:W3CDTF">2026-06-28T17:11:59Z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